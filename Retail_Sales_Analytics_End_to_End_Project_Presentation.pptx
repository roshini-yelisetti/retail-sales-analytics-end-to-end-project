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17"/>
  </p:notesMasterIdLst>
  <p:handoutMasterIdLst>
    <p:handoutMasterId r:id="rId18"/>
  </p:handoutMasterIdLst>
  <p:sldIdLst>
    <p:sldId id="269" r:id="rId2"/>
    <p:sldId id="294" r:id="rId3"/>
    <p:sldId id="270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6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6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6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6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3611"/>
    <a:srgbClr val="A44114"/>
    <a:srgbClr val="F3B99F"/>
    <a:srgbClr val="B94917"/>
    <a:srgbClr val="FF6600"/>
    <a:srgbClr val="000066"/>
    <a:srgbClr val="00002C"/>
    <a:srgbClr val="C4E7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7155" autoAdjust="0"/>
  </p:normalViewPr>
  <p:slideViewPr>
    <p:cSldViewPr>
      <p:cViewPr varScale="1">
        <p:scale>
          <a:sx n="85" d="100"/>
          <a:sy n="85" d="100"/>
        </p:scale>
        <p:origin x="1406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48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fld id="{F0B6EC5B-DE15-4B62-9DC0-DE1BD893DD16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8682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6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fld id="{823FACB9-4E35-4CB3-835A-2EBF55FAEDE3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8694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47112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47113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14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15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16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17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18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19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20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21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22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23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24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25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26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27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28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29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30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31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32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33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34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35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36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37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38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39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40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41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42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43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47144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47107" name="Title Placeholder 1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4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47108" name="Text Placeholder 2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Tx/>
              <a:buNone/>
              <a:defRPr sz="2900"/>
            </a:lvl1pPr>
          </a:lstStyle>
          <a:p>
            <a:pPr lvl="0"/>
            <a:r>
              <a:rPr lang="en-US" altLang="en-US" noProof="0"/>
              <a:t>Click to edit Master subtitle style</a:t>
            </a:r>
            <a:endParaRPr lang="en-US" altLang="en-US" noProof="0" dirty="0"/>
          </a:p>
        </p:txBody>
      </p:sp>
      <p:sp>
        <p:nvSpPr>
          <p:cNvPr id="47109" name="Date Placeholder 3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3259C393-9A2B-45A2-8E4E-FAFA5413C1FC}" type="datetime1">
              <a:rPr lang="en-US" altLang="en-US" smtClean="0"/>
              <a:pPr/>
              <a:t>6/25/2026</a:t>
            </a:fld>
            <a:endParaRPr lang="en-US" altLang="en-US" dirty="0"/>
          </a:p>
        </p:txBody>
      </p:sp>
      <p:sp>
        <p:nvSpPr>
          <p:cNvPr id="47110" name="Footer Placeholder 4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Add a footer</a:t>
            </a:r>
          </a:p>
        </p:txBody>
      </p:sp>
      <p:sp>
        <p:nvSpPr>
          <p:cNvPr id="47111" name="Slide Number Placeholder 5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E945280F-DE53-48B1-9FB9-96A39916642A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158947-7A00-4A76-84B1-1B2119E03B78}" type="datetime1">
              <a:rPr lang="en-US" altLang="en-US" smtClean="0"/>
              <a:pPr/>
              <a:t>6/25/2026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6F290-D301-4864-9490-340EF11588D9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36072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D91BFB3-8F1B-477F-B96F-8BA65B2D4AD3}" type="datetime1">
              <a:rPr lang="en-US" altLang="en-US" smtClean="0"/>
              <a:pPr/>
              <a:t>6/25/2026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208CE1-DD55-4A43-A479-EF83A2DC3985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21975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1524000"/>
            <a:ext cx="3619500" cy="4411663"/>
          </a:xfrm>
        </p:spPr>
        <p:txBody>
          <a:bodyPr/>
          <a:lstStyle>
            <a:lvl1pPr marL="45720" indent="0">
              <a:buFontTx/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14900" y="1524000"/>
            <a:ext cx="3619500" cy="4411663"/>
          </a:xfrm>
        </p:spPr>
        <p:txBody>
          <a:bodyPr/>
          <a:lstStyle>
            <a:lvl1pPr marL="45720" indent="0">
              <a:buFontTx/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493DC1E-4DED-43A8-89C3-4163E3A75CBB}" type="datetime1">
              <a:rPr lang="en-US" altLang="en-US" smtClean="0"/>
              <a:pPr/>
              <a:t>6/25/2026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27AF89-6755-46F5-BBCF-E571D7F311A5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37358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 marL="45720" indent="0">
              <a:buFontTx/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 marL="45720" indent="0">
              <a:buFontTx/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76BA95-CF00-41A1-A420-966FC66619DA}" type="datetime1">
              <a:rPr lang="en-US" altLang="en-US" smtClean="0"/>
              <a:pPr/>
              <a:t>6/25/2026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6BE3C0-1208-4260-82C3-0EB040027195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93253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0CD8A93-8C14-4267-B95F-FE4BE0AB69DE}" type="datetime1">
              <a:rPr lang="en-US" altLang="en-US" smtClean="0"/>
              <a:pPr/>
              <a:t>6/25/2026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F02DF6-5EF1-449D-8E8F-F40E7D2FCBCB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6736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05897D-7D60-41CE-AECE-5AF4DAA0D447}" type="datetime1">
              <a:rPr lang="en-US" altLang="en-US" smtClean="0"/>
              <a:pPr/>
              <a:t>6/25/2026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3460AA-1533-4548-8781-A6D0EAE276D6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51094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 marL="45720" indent="0">
              <a:buFontTx/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1919950-C514-47F9-AEFE-38055CCEE8E4}" type="datetime1">
              <a:rPr lang="en-US" altLang="en-US" smtClean="0"/>
              <a:pPr/>
              <a:t>6/25/2026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386842-FEC9-453F-B6F7-7C945F3A2D73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30924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6D2572-3AEE-4103-AD61-E3B66B0BAB81}" type="datetime1">
              <a:rPr lang="en-US" altLang="en-US" smtClean="0"/>
              <a:pPr/>
              <a:t>6/25/2026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6DA581-ADE3-4A40-91CB-711A776CAC29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11566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 marL="4572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C67B00-BE02-4BB9-B9A5-D51D0D1A821E}" type="datetime1">
              <a:rPr lang="en-US" altLang="en-US" smtClean="0"/>
              <a:pPr/>
              <a:t>6/25/2026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2E90EB-6CA4-453F-8712-C339590DE034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13127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57950" y="228600"/>
            <a:ext cx="2076450" cy="57070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228600"/>
            <a:ext cx="6076950" cy="5707063"/>
          </a:xfrm>
        </p:spPr>
        <p:txBody>
          <a:bodyPr vert="eaVert"/>
          <a:lstStyle>
            <a:lvl1pPr marL="4572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FA2D16B-FB7D-484B-A659-F70C0EEA95A8}" type="datetime1">
              <a:rPr lang="en-US" altLang="en-US" smtClean="0"/>
              <a:pPr/>
              <a:t>6/25/2026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D251BA-4196-46F7-BF5E-DE37F6712AD1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5170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46088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46089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090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091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092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093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094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095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096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097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098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099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00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01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02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03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04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05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06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07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08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09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10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11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12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13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14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15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16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17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18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19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46083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228600"/>
            <a:ext cx="76962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6084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43000" y="1524000"/>
            <a:ext cx="7391400" cy="441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US" altLang="en-US" dirty="0"/>
          </a:p>
        </p:txBody>
      </p:sp>
      <p:sp>
        <p:nvSpPr>
          <p:cNvPr id="46085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000"/>
            </a:lvl1pPr>
          </a:lstStyle>
          <a:p>
            <a:fld id="{375B0982-7648-47FF-97D6-16483483F3D5}" type="datetime1">
              <a:rPr lang="en-US" altLang="en-US" smtClean="0"/>
              <a:pPr/>
              <a:t>6/25/2026</a:t>
            </a:fld>
            <a:endParaRPr lang="en-US" altLang="en-US" dirty="0"/>
          </a:p>
        </p:txBody>
      </p:sp>
      <p:sp>
        <p:nvSpPr>
          <p:cNvPr id="46086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buSzTx/>
              <a:buFontTx/>
              <a:buNone/>
              <a:defRPr sz="1000"/>
            </a:lvl1pPr>
          </a:lstStyle>
          <a:p>
            <a:r>
              <a:rPr lang="en-US" altLang="en-US" dirty="0"/>
              <a:t>Add a footer</a:t>
            </a:r>
          </a:p>
        </p:txBody>
      </p:sp>
      <p:sp>
        <p:nvSpPr>
          <p:cNvPr id="46087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000"/>
            </a:lvl1pPr>
          </a:lstStyle>
          <a:p>
            <a:fld id="{D7E5119E-5338-4B55-81DC-57EAC9440FD0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9pPr>
    </p:titleStyle>
    <p:bodyStyle>
      <a:lvl1pPr marL="45720" indent="0" algn="l" rtl="0" eaLnBrk="1" fontAlgn="base" hangingPunct="1">
        <a:spcBef>
          <a:spcPct val="25000"/>
        </a:spcBef>
        <a:spcAft>
          <a:spcPct val="0"/>
        </a:spcAft>
        <a:buClr>
          <a:schemeClr val="tx2"/>
        </a:buClr>
        <a:buSzPct val="120000"/>
        <a:buFontTx/>
        <a:buNone/>
        <a:defRPr sz="27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0"/>
        </a:spcBef>
        <a:spcAft>
          <a:spcPct val="25000"/>
        </a:spcAft>
        <a:buClr>
          <a:schemeClr val="accent2">
            <a:lumMod val="75000"/>
          </a:schemeClr>
        </a:buClr>
        <a:buSzPct val="55000"/>
        <a:buFont typeface="Wingdings" pitchFamily="2" charset="2"/>
        <a:buChar char="l"/>
        <a:defRPr sz="2400">
          <a:solidFill>
            <a:schemeClr val="tx1"/>
          </a:solidFill>
          <a:latin typeface="+mn-lt"/>
        </a:defRPr>
      </a:lvl2pPr>
      <a:lvl3pPr marL="987425" indent="-293688" algn="l" rtl="0" eaLnBrk="1" fontAlgn="base" hangingPunct="1">
        <a:spcBef>
          <a:spcPct val="0"/>
        </a:spcBef>
        <a:spcAft>
          <a:spcPct val="25000"/>
        </a:spcAft>
        <a:buClr>
          <a:schemeClr val="accent1">
            <a:lumMod val="50000"/>
          </a:schemeClr>
        </a:buClr>
        <a:buSzPct val="50000"/>
        <a:buFont typeface="Wingdings" pitchFamily="2" charset="2"/>
        <a:buChar char="l"/>
        <a:defRPr sz="2200">
          <a:solidFill>
            <a:schemeClr val="tx1"/>
          </a:solidFill>
          <a:latin typeface="+mn-lt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>
            <a:lumMod val="75000"/>
          </a:schemeClr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accent3">
            <a:lumMod val="50000"/>
          </a:schemeClr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1920240" indent="-315913" algn="l" rtl="0" eaLnBrk="1" fontAlgn="base" hangingPunct="1">
        <a:spcBef>
          <a:spcPct val="20000"/>
        </a:spcBef>
        <a:spcAft>
          <a:spcPct val="0"/>
        </a:spcAft>
        <a:buClr>
          <a:schemeClr val="accent6">
            <a:lumMod val="50000"/>
          </a:schemeClr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240280" indent="-315913" algn="l" rtl="0" eaLnBrk="1" fontAlgn="base" hangingPunct="1"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651760" indent="-315913" algn="l" rtl="0" eaLnBrk="1" fontAlgn="base" hangingPunct="1">
        <a:spcBef>
          <a:spcPct val="20000"/>
        </a:spcBef>
        <a:spcAft>
          <a:spcPct val="0"/>
        </a:spcAft>
        <a:buClr>
          <a:schemeClr val="bg2">
            <a:lumMod val="75000"/>
          </a:schemeClr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108960" indent="-315913" algn="l" rtl="0" eaLnBrk="1" fontAlgn="base" hangingPunct="1"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486D98-0B9B-4C4E-A25F-64BA4C5DBB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692696" y="555948"/>
            <a:ext cx="8712968" cy="2133600"/>
          </a:xfrm>
        </p:spPr>
        <p:txBody>
          <a:bodyPr/>
          <a:lstStyle/>
          <a:p>
            <a:r>
              <a:rPr lang="en-US" sz="3600" dirty="0"/>
              <a:t>RETAIL SALES ANALYTICS </a:t>
            </a:r>
            <a:br>
              <a:rPr lang="en-US" sz="4800" dirty="0"/>
            </a:br>
            <a:br>
              <a:rPr lang="en-US" dirty="0"/>
            </a:br>
            <a:r>
              <a:rPr lang="en-US" sz="1100" dirty="0"/>
              <a:t>Retail Sales Analytics Dashboard using SQL, Python, and Power BI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655BBED-E65C-4B70-99E3-9318D4F2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9313" y="3049588"/>
            <a:ext cx="6248400" cy="595436"/>
          </a:xfrm>
        </p:spPr>
        <p:txBody>
          <a:bodyPr/>
          <a:lstStyle/>
          <a:p>
            <a:r>
              <a:rPr lang="en-IN" b="1" dirty="0"/>
              <a:t>Roshini </a:t>
            </a:r>
            <a:r>
              <a:rPr lang="en-IN" b="1" dirty="0" err="1"/>
              <a:t>Yelisetti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172901-E486-13E2-A8E3-04F32B48E4BD}"/>
              </a:ext>
            </a:extLst>
          </p:cNvPr>
          <p:cNvSpPr txBox="1"/>
          <p:nvPr/>
        </p:nvSpPr>
        <p:spPr>
          <a:xfrm>
            <a:off x="1619672" y="4365104"/>
            <a:ext cx="655272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/>
              <a:t>Tools: SQL | Python | Power BI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429484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83FBB-DE0C-343B-067F-58F4A1750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228600"/>
            <a:ext cx="7696200" cy="1295400"/>
          </a:xfrm>
        </p:spPr>
        <p:txBody>
          <a:bodyPr/>
          <a:lstStyle/>
          <a:p>
            <a:r>
              <a:rPr lang="en-US" dirty="0"/>
              <a:t>OUTLINE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CB2D1-7A44-558A-6A9C-C1D98B7CD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IN" dirty="0"/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en-IN" dirty="0"/>
              <a:t>Problem Statement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en-IN" dirty="0"/>
              <a:t>Project Objectives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en-IN" dirty="0"/>
              <a:t>Dataset Overview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en-IN" dirty="0"/>
              <a:t>Tools &amp; Technologies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en-IN" dirty="0"/>
              <a:t>SQL Analysis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en-IN" dirty="0"/>
              <a:t>Executive Overview Dashboard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en-IN" dirty="0"/>
              <a:t>Product Performance Dashboard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en-IN" dirty="0"/>
              <a:t>Customer Insights Dashboard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en-IN" dirty="0"/>
              <a:t>Profitability Analysis Dashboard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en-IN" dirty="0"/>
              <a:t>Business Insights &amp; Recommendations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en-IN" dirty="0"/>
              <a:t>Key Findings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en-IN" dirty="0"/>
              <a:t>Business Recommendations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en-IN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93581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2B656-4656-4646-A221-7C30814F2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476672"/>
            <a:ext cx="7696200" cy="1295400"/>
          </a:xfrm>
        </p:spPr>
        <p:txBody>
          <a:bodyPr/>
          <a:lstStyle/>
          <a:p>
            <a:r>
              <a:rPr lang="en-US" dirty="0"/>
              <a:t>Problem Statement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ABF9E-9B82-4C13-8452-952BD74F6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268760"/>
            <a:ext cx="7776864" cy="5026943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en-US" sz="2400" dirty="0"/>
              <a:t>Retail organizations generate large amounts of sales data.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en-US" sz="2400" dirty="0"/>
              <a:t>The challenge is to transform this raw data into actionable business insights.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en-US" sz="2400" dirty="0"/>
              <a:t>This project aims to analyze sales performance, customer behavior, profitability, and product performance to support business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190566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69257-F0BB-EE7A-8DF8-2E06FE84F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404664"/>
            <a:ext cx="7696200" cy="1295400"/>
          </a:xfrm>
        </p:spPr>
        <p:txBody>
          <a:bodyPr/>
          <a:lstStyle/>
          <a:p>
            <a:r>
              <a:rPr lang="en-US" dirty="0"/>
              <a:t>Project Objectives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8A605-CD74-1654-BDC1-1288D736F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300" y="1223168"/>
            <a:ext cx="7391400" cy="4411663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• Analyze overall sales performance</a:t>
            </a:r>
          </a:p>
          <a:p>
            <a:r>
              <a:rPr lang="en-US" dirty="0"/>
              <a:t>• Identify profitable categories and products</a:t>
            </a:r>
          </a:p>
          <a:p>
            <a:r>
              <a:rPr lang="en-US" dirty="0"/>
              <a:t>• Evaluate customer segment contribution</a:t>
            </a:r>
          </a:p>
          <a:p>
            <a:r>
              <a:rPr lang="en-US" dirty="0"/>
              <a:t>• Analyze regional sales performance</a:t>
            </a:r>
          </a:p>
          <a:p>
            <a:r>
              <a:rPr lang="en-US" dirty="0"/>
              <a:t>• Generate business recommendations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840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58EAE-6382-6A3C-AE97-856CE0495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476672"/>
            <a:ext cx="7696200" cy="1295400"/>
          </a:xfrm>
        </p:spPr>
        <p:txBody>
          <a:bodyPr/>
          <a:lstStyle/>
          <a:p>
            <a:r>
              <a:rPr lang="en-IN" dirty="0"/>
              <a:t>Tools and Technologies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2D44D-1E86-49AA-62DB-D30D1EF3E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584" y="1223168"/>
            <a:ext cx="7391400" cy="4411663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  <a:p>
            <a:r>
              <a:rPr lang="en-IN" dirty="0"/>
              <a:t>• SQL (MySQL)</a:t>
            </a:r>
          </a:p>
          <a:p>
            <a:r>
              <a:rPr lang="en-IN" dirty="0"/>
              <a:t>• Python</a:t>
            </a:r>
          </a:p>
          <a:p>
            <a:r>
              <a:rPr lang="en-IN" dirty="0"/>
              <a:t>• Power BI</a:t>
            </a:r>
          </a:p>
          <a:p>
            <a:r>
              <a:rPr lang="en-IN" dirty="0"/>
              <a:t>• Excel</a:t>
            </a:r>
          </a:p>
          <a:p>
            <a:endParaRPr lang="en-IN" dirty="0"/>
          </a:p>
          <a:p>
            <a:r>
              <a:rPr lang="en-IN" dirty="0">
                <a:highlight>
                  <a:srgbClr val="FFFF00"/>
                </a:highlight>
              </a:rPr>
              <a:t>Python Libraries:</a:t>
            </a:r>
          </a:p>
          <a:p>
            <a:r>
              <a:rPr lang="en-IN" dirty="0"/>
              <a:t>• Pandas</a:t>
            </a:r>
          </a:p>
          <a:p>
            <a:r>
              <a:rPr lang="en-IN" dirty="0"/>
              <a:t>• NumPy</a:t>
            </a:r>
          </a:p>
          <a:p>
            <a:r>
              <a:rPr lang="en-IN" dirty="0"/>
              <a:t>• Matplotlib</a:t>
            </a:r>
          </a:p>
          <a:p>
            <a:r>
              <a:rPr lang="en-IN" dirty="0"/>
              <a:t>• Seaborn</a:t>
            </a:r>
          </a:p>
        </p:txBody>
      </p:sp>
    </p:spTree>
    <p:extLst>
      <p:ext uri="{BB962C8B-B14F-4D97-AF65-F5344CB8AC3E}">
        <p14:creationId xmlns:p14="http://schemas.microsoft.com/office/powerpoint/2010/main" val="2587322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D31B0-C7F3-BE92-585E-DC67BCC10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SQL Analysis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02F24-3F4C-6B0D-229E-182615E99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300" y="1268760"/>
            <a:ext cx="7391400" cy="4411663"/>
          </a:xfrm>
        </p:spPr>
        <p:txBody>
          <a:bodyPr/>
          <a:lstStyle/>
          <a:p>
            <a:r>
              <a:rPr lang="en-US" dirty="0"/>
              <a:t>• Sales Analysis</a:t>
            </a:r>
            <a:br>
              <a:rPr lang="en-US" dirty="0"/>
            </a:br>
            <a:r>
              <a:rPr lang="en-US" dirty="0"/>
              <a:t>• Product Performance Analysis</a:t>
            </a:r>
            <a:br>
              <a:rPr lang="en-US" dirty="0"/>
            </a:br>
            <a:r>
              <a:rPr lang="en-US" dirty="0"/>
              <a:t>• Category Analysis</a:t>
            </a:r>
            <a:br>
              <a:rPr lang="en-US" dirty="0"/>
            </a:br>
            <a:r>
              <a:rPr lang="en-US" dirty="0"/>
              <a:t>• Regional Analysis</a:t>
            </a:r>
            <a:br>
              <a:rPr lang="en-US" dirty="0"/>
            </a:br>
            <a:r>
              <a:rPr lang="en-US" dirty="0"/>
              <a:t>• Profitability Analysis</a:t>
            </a:r>
            <a:br>
              <a:rPr lang="en-US" dirty="0"/>
            </a:br>
            <a:br>
              <a:rPr lang="en-US" dirty="0"/>
            </a:br>
            <a:r>
              <a:rPr lang="en-US" b="1" dirty="0">
                <a:highlight>
                  <a:srgbClr val="FFFF00"/>
                </a:highlight>
              </a:rPr>
              <a:t>Outcome:</a:t>
            </a:r>
            <a:br>
              <a:rPr lang="en-US" dirty="0"/>
            </a:br>
            <a:r>
              <a:rPr lang="en-US" dirty="0"/>
              <a:t>Generated business insights through SQL queries.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8366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64E7D-3BD7-86AF-C0DA-66F1E8AF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548680"/>
            <a:ext cx="7696200" cy="1295400"/>
          </a:xfrm>
        </p:spPr>
        <p:txBody>
          <a:bodyPr/>
          <a:lstStyle/>
          <a:p>
            <a:r>
              <a:rPr lang="en-US" dirty="0"/>
              <a:t>Python Analysis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4D0E0-A50B-DDF7-AF4C-67DE0F2D2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3608" y="876300"/>
            <a:ext cx="7391400" cy="4411663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• Data Cleaning</a:t>
            </a:r>
          </a:p>
          <a:p>
            <a:r>
              <a:rPr lang="en-US" dirty="0"/>
              <a:t>• Data Transformation</a:t>
            </a:r>
          </a:p>
          <a:p>
            <a:r>
              <a:rPr lang="en-US" dirty="0"/>
              <a:t>• Exploratory Data Analysis</a:t>
            </a:r>
          </a:p>
          <a:p>
            <a:r>
              <a:rPr lang="en-US" dirty="0"/>
              <a:t>• Sales Trend Analysis</a:t>
            </a:r>
          </a:p>
          <a:p>
            <a:r>
              <a:rPr lang="en-US" dirty="0"/>
              <a:t>• Data Visualization</a:t>
            </a:r>
          </a:p>
          <a:p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Outcome:</a:t>
            </a:r>
          </a:p>
          <a:p>
            <a:r>
              <a:rPr lang="en-US" dirty="0"/>
              <a:t>Prepared data for business intelligence reporting.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6775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5576B-6251-958A-5032-69E4DEA89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7727776" cy="896144"/>
          </a:xfrm>
        </p:spPr>
        <p:txBody>
          <a:bodyPr/>
          <a:lstStyle/>
          <a:p>
            <a:r>
              <a:rPr lang="en-IN" dirty="0"/>
              <a:t>Executive Overview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6D8BD-7E40-0B0E-1CE4-5053F0805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96753"/>
            <a:ext cx="8087816" cy="2232247"/>
          </a:xfrm>
        </p:spPr>
        <p:txBody>
          <a:bodyPr>
            <a:noAutofit/>
          </a:bodyPr>
          <a:lstStyle/>
          <a:p>
            <a:pPr marL="502920" indent="-457200">
              <a:buFont typeface="Arial" panose="020B0604020202020204" pitchFamily="34" charset="0"/>
              <a:buChar char="•"/>
            </a:pPr>
            <a:r>
              <a:rPr lang="en-US" sz="1200" dirty="0"/>
              <a:t>The Executive Overview Dashboard provides a high-level summary of the retail business performance.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en-US" sz="1200" dirty="0"/>
              <a:t>Key KPIs such as Total Sales, Total Profit, Total Orders, and Total Quantity Sold are displayed to monitor overall business performance.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en-US" sz="1200" dirty="0"/>
              <a:t>The dashboard includes Region-wise Sales Analysis, Category Contribution, Profit by Category, Monthly Sales Trends, Customer Segment Analysis, State-wise Sales Distribution, and Top Products Analysis.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en-US" sz="1200" dirty="0"/>
              <a:t>Interactive slicers allow users to filter data by Region, Category, Segment, and Year for deeper analysis.</a:t>
            </a:r>
            <a:endParaRPr lang="en-IN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8F43AF-2949-38AD-E58F-E7F2E5B054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2636912"/>
            <a:ext cx="8735888" cy="39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106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47028-6E36-BDF4-E76A-A8EDBA9DC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-243408"/>
            <a:ext cx="7696200" cy="1295400"/>
          </a:xfrm>
        </p:spPr>
        <p:txBody>
          <a:bodyPr/>
          <a:lstStyle/>
          <a:p>
            <a:r>
              <a:rPr lang="en-IN" dirty="0"/>
              <a:t>Product Performance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CB98C-433A-20BD-E47E-68A67D8FC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584" y="1082824"/>
            <a:ext cx="7391400" cy="4411663"/>
          </a:xfrm>
        </p:spPr>
        <p:txBody>
          <a:bodyPr>
            <a:normAutofit/>
          </a:bodyPr>
          <a:lstStyle/>
          <a:p>
            <a:pPr marL="217170" indent="-171450">
              <a:buFont typeface="Arial" panose="020B0604020202020204" pitchFamily="34" charset="0"/>
              <a:buChar char="•"/>
            </a:pPr>
            <a:r>
              <a:rPr lang="en-US" sz="1200" dirty="0"/>
              <a:t>The Product Performance Dashboard focuses on evaluating product-level performance.</a:t>
            </a:r>
          </a:p>
          <a:p>
            <a:pPr marL="217170" indent="-171450">
              <a:buFont typeface="Arial" panose="020B0604020202020204" pitchFamily="34" charset="0"/>
              <a:buChar char="•"/>
            </a:pPr>
            <a:r>
              <a:rPr lang="en-US" sz="1200" dirty="0"/>
              <a:t>It identifies Top 10 Products by Sales and Profit, helping stakeholders understand which products contribute most to revenue and profitability.</a:t>
            </a:r>
          </a:p>
          <a:p>
            <a:pPr marL="217170" indent="-171450">
              <a:buFont typeface="Arial" panose="020B0604020202020204" pitchFamily="34" charset="0"/>
              <a:buChar char="•"/>
            </a:pPr>
            <a:r>
              <a:rPr lang="en-US" sz="1200" dirty="0"/>
              <a:t>Category and Sub-Category analysis helps compare product groups and identify growth opportunities.</a:t>
            </a:r>
          </a:p>
          <a:p>
            <a:pPr marL="217170" indent="-171450">
              <a:buFont typeface="Arial" panose="020B0604020202020204" pitchFamily="34" charset="0"/>
              <a:buChar char="•"/>
            </a:pPr>
            <a:r>
              <a:rPr lang="en-US" sz="1200" dirty="0"/>
              <a:t>The dashboard supports inventory planning, product strategy, and performance monitoring.</a:t>
            </a:r>
            <a:endParaRPr lang="en-IN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C7F292-B9F6-D5D3-AF59-28DB0B8E3A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564" y="2348880"/>
            <a:ext cx="7848872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32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9F401-DEF6-D7EC-B017-D3EC6F1ED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7696200" cy="693737"/>
          </a:xfrm>
        </p:spPr>
        <p:txBody>
          <a:bodyPr/>
          <a:lstStyle/>
          <a:p>
            <a:r>
              <a:rPr lang="en-IN" dirty="0"/>
              <a:t>Customer Insights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1AA75-E892-676A-4892-0B0F49F87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576" y="1052736"/>
            <a:ext cx="7391400" cy="4411663"/>
          </a:xfrm>
        </p:spPr>
        <p:txBody>
          <a:bodyPr>
            <a:normAutofit/>
          </a:bodyPr>
          <a:lstStyle/>
          <a:p>
            <a:pPr marL="217170" indent="-171450">
              <a:buFont typeface="Arial" panose="020B0604020202020204" pitchFamily="34" charset="0"/>
              <a:buChar char="•"/>
            </a:pPr>
            <a:r>
              <a:rPr lang="en-US" sz="1200" dirty="0"/>
              <a:t>The Customer Insights Dashboard analyzes customer behavior and segment contribution.</a:t>
            </a:r>
          </a:p>
          <a:p>
            <a:pPr marL="217170" indent="-171450">
              <a:buFont typeface="Arial" panose="020B0604020202020204" pitchFamily="34" charset="0"/>
              <a:buChar char="•"/>
            </a:pPr>
            <a:r>
              <a:rPr lang="en-US" sz="1200" dirty="0"/>
              <a:t>The dashboard highlights Total Customers, Customer Segment Contribution, Sales by Segment, and Profit by Segment.</a:t>
            </a:r>
          </a:p>
          <a:p>
            <a:pPr marL="217170" indent="-171450">
              <a:buFont typeface="Arial" panose="020B0604020202020204" pitchFamily="34" charset="0"/>
              <a:buChar char="•"/>
            </a:pPr>
            <a:r>
              <a:rPr lang="en-US" sz="1200" dirty="0"/>
              <a:t>This analysis helps understand customer purchasing patterns and identify high-value customer groups.</a:t>
            </a:r>
          </a:p>
          <a:p>
            <a:pPr marL="217170" indent="-171450">
              <a:buFont typeface="Arial" panose="020B0604020202020204" pitchFamily="34" charset="0"/>
              <a:buChar char="•"/>
            </a:pPr>
            <a:r>
              <a:rPr lang="en-US" sz="1200" dirty="0"/>
              <a:t>The insights can support customer retention strategies and targeted marketing initiatives.</a:t>
            </a:r>
            <a:endParaRPr lang="en-IN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0ACB-E2CC-5FDF-E662-A6C998F5D0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276873"/>
            <a:ext cx="8280920" cy="43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934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BE66D-4541-6B9B-21B0-C9F1CB2DF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7696200" cy="693737"/>
          </a:xfrm>
        </p:spPr>
        <p:txBody>
          <a:bodyPr/>
          <a:lstStyle/>
          <a:p>
            <a:r>
              <a:rPr lang="en-IN" dirty="0"/>
              <a:t>Profitability Analysis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6B05A-6569-8AB9-4C7C-942F084AB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052736"/>
            <a:ext cx="7391400" cy="1368152"/>
          </a:xfrm>
        </p:spPr>
        <p:txBody>
          <a:bodyPr>
            <a:normAutofit/>
          </a:bodyPr>
          <a:lstStyle/>
          <a:p>
            <a:pPr marL="217170" indent="-171450">
              <a:buFont typeface="Arial" panose="020B0604020202020204" pitchFamily="34" charset="0"/>
              <a:buChar char="•"/>
            </a:pPr>
            <a:r>
              <a:rPr lang="en-US" sz="1200" dirty="0"/>
              <a:t>The Profitability Analysis Dashboard evaluates profit performance across different business dimensions.</a:t>
            </a:r>
          </a:p>
          <a:p>
            <a:pPr marL="217170" indent="-171450">
              <a:buFont typeface="Arial" panose="020B0604020202020204" pitchFamily="34" charset="0"/>
              <a:buChar char="•"/>
            </a:pPr>
            <a:r>
              <a:rPr lang="en-US" sz="1200" dirty="0"/>
              <a:t>The dashboard includes Profit by Region, Profit by Category, Profit by State, and Discount vs Profit Analysis.</a:t>
            </a:r>
          </a:p>
          <a:p>
            <a:pPr marL="217170" indent="-171450">
              <a:buFont typeface="Arial" panose="020B0604020202020204" pitchFamily="34" charset="0"/>
              <a:buChar char="•"/>
            </a:pPr>
            <a:r>
              <a:rPr lang="en-US" sz="1200" dirty="0"/>
              <a:t>The analysis helps identify profitable regions and categories while highlighting the impact of discounts on overall profitability.</a:t>
            </a:r>
          </a:p>
          <a:p>
            <a:pPr marL="217170" indent="-171450">
              <a:buFont typeface="Arial" panose="020B0604020202020204" pitchFamily="34" charset="0"/>
              <a:buChar char="•"/>
            </a:pPr>
            <a:r>
              <a:rPr lang="en-US" sz="1200" dirty="0"/>
              <a:t>These insights support pricing strategies and profit optimization efforts.</a:t>
            </a:r>
            <a:endParaRPr lang="en-IN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A36665-574B-EA2C-03DA-2F4125FB2A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2420888"/>
            <a:ext cx="8064896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901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1BF45-EDAF-75CE-7A40-A6443530F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7696200" cy="896144"/>
          </a:xfrm>
        </p:spPr>
        <p:txBody>
          <a:bodyPr/>
          <a:lstStyle/>
          <a:p>
            <a:r>
              <a:rPr lang="en-IN" sz="2800" dirty="0"/>
              <a:t>Business Insights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B29AB-641E-63C6-86F0-6FFBDD850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136739"/>
            <a:ext cx="7391400" cy="1544960"/>
          </a:xfrm>
        </p:spPr>
        <p:txBody>
          <a:bodyPr>
            <a:normAutofit/>
          </a:bodyPr>
          <a:lstStyle/>
          <a:p>
            <a:pPr marL="502920" indent="-457200">
              <a:buFont typeface="Arial" panose="020B0604020202020204" pitchFamily="34" charset="0"/>
              <a:buChar char="•"/>
            </a:pPr>
            <a:r>
              <a:rPr lang="en-US" sz="1200" dirty="0"/>
              <a:t>The Business Insights Dashboard summarizes key findings and strategic recommendations derived from the analysis.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en-US" sz="1200" dirty="0"/>
              <a:t>The page presents executive-level insights regarding sales performance, customer behavior, product contribution, and profitability.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en-US" sz="1200" dirty="0"/>
              <a:t>Business recommendations are provided to improve revenue growth, optimize inventory planning, increase customer retention, and enhance profit margins.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en-US" sz="1200" dirty="0"/>
              <a:t>This page serves as a decision-support summary for business stakeholders.</a:t>
            </a:r>
            <a:endParaRPr lang="en-IN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5EAB60-ED36-41A8-A18A-BC95AB6F07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780927"/>
            <a:ext cx="7488832" cy="367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30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0981E-F6FE-204C-5169-EFFD8F10B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7696200" cy="1040160"/>
          </a:xfrm>
        </p:spPr>
        <p:txBody>
          <a:bodyPr/>
          <a:lstStyle/>
          <a:p>
            <a:r>
              <a:rPr lang="en-IN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7B748-CC7D-F1BE-B9D5-A24700F95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• West Region generated the highest overall sales revenue.</a:t>
            </a:r>
          </a:p>
          <a:p>
            <a:endParaRPr lang="en-US" dirty="0"/>
          </a:p>
          <a:p>
            <a:r>
              <a:rPr lang="en-US" dirty="0"/>
              <a:t>• Technology category achieved the strongest sales performance.</a:t>
            </a:r>
          </a:p>
          <a:p>
            <a:endParaRPr lang="en-US" dirty="0"/>
          </a:p>
          <a:p>
            <a:r>
              <a:rPr lang="en-US" dirty="0"/>
              <a:t>• Consumer Segment contributed the highest share of total sales.</a:t>
            </a:r>
          </a:p>
          <a:p>
            <a:endParaRPr lang="en-US" dirty="0"/>
          </a:p>
          <a:p>
            <a:r>
              <a:rPr lang="en-US" dirty="0"/>
              <a:t>• Top-performing products generated a significant portion of revenue.</a:t>
            </a:r>
          </a:p>
          <a:p>
            <a:endParaRPr lang="en-US" dirty="0"/>
          </a:p>
          <a:p>
            <a:r>
              <a:rPr lang="en-US" dirty="0"/>
              <a:t>• High discount levels negatively affected profitability.</a:t>
            </a:r>
          </a:p>
          <a:p>
            <a:endParaRPr lang="en-US" dirty="0"/>
          </a:p>
          <a:p>
            <a:r>
              <a:rPr lang="en-US" dirty="0"/>
              <a:t>• Sales trends revealed seasonal fluctuations and peak sales periods.</a:t>
            </a:r>
          </a:p>
          <a:p>
            <a:endParaRPr lang="en-US" dirty="0"/>
          </a:p>
          <a:p>
            <a:r>
              <a:rPr lang="en-US" dirty="0"/>
              <a:t>• Regional performance varied across sales and profit metrics.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7850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A3E15-AD7F-4A17-FF7E-AF99E8794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60648"/>
            <a:ext cx="7696200" cy="1040160"/>
          </a:xfrm>
        </p:spPr>
        <p:txBody>
          <a:bodyPr/>
          <a:lstStyle/>
          <a:p>
            <a:r>
              <a:rPr lang="en-IN" dirty="0"/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102C7-E7D4-6FCD-8960-254A596B1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• Increase inventory availability for high-performing products.</a:t>
            </a:r>
          </a:p>
          <a:p>
            <a:endParaRPr lang="en-US" dirty="0"/>
          </a:p>
          <a:p>
            <a:r>
              <a:rPr lang="en-US" dirty="0"/>
              <a:t>• Optimize discount strategies to improve profitability.</a:t>
            </a:r>
          </a:p>
          <a:p>
            <a:endParaRPr lang="en-US" dirty="0"/>
          </a:p>
          <a:p>
            <a:r>
              <a:rPr lang="en-US" dirty="0"/>
              <a:t>• Focus marketing efforts on high-value customer segments.</a:t>
            </a:r>
          </a:p>
          <a:p>
            <a:endParaRPr lang="en-US" dirty="0"/>
          </a:p>
          <a:p>
            <a:r>
              <a:rPr lang="en-US" dirty="0"/>
              <a:t>• Improve performance of low-profit product categories.</a:t>
            </a:r>
          </a:p>
          <a:p>
            <a:endParaRPr lang="en-US" dirty="0"/>
          </a:p>
          <a:p>
            <a:r>
              <a:rPr lang="en-US" dirty="0"/>
              <a:t>• Expand successful products into underperforming regions.</a:t>
            </a:r>
          </a:p>
          <a:p>
            <a:endParaRPr lang="en-US" dirty="0"/>
          </a:p>
          <a:p>
            <a:r>
              <a:rPr lang="en-US" dirty="0"/>
              <a:t>• Use historical sales trends for forecasting and inventory planning.</a:t>
            </a:r>
          </a:p>
          <a:p>
            <a:endParaRPr lang="en-US" dirty="0"/>
          </a:p>
          <a:p>
            <a:r>
              <a:rPr lang="en-US" dirty="0"/>
              <a:t>• Monitor profitability regularly through dashboard-driven decision making.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962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0775B-E60C-3C90-AC89-F1E61054A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0"/>
            <a:ext cx="7696200" cy="1295400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9FB02-0C78-1E67-7D59-914693338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02920" indent="-457200">
              <a:buFont typeface="Arial" panose="020B0604020202020204" pitchFamily="34" charset="0"/>
              <a:buChar char="•"/>
            </a:pPr>
            <a:r>
              <a:rPr lang="en-US" dirty="0"/>
              <a:t>This Retail Sales Analytics Project successfully transformed raw sales data into actionable business insights using SQL, Python, and Power BI.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en-US" dirty="0"/>
              <a:t>The project enabled comprehensive analysis of sales performance, customer behavior, product performance, and profitability.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en-US" dirty="0"/>
              <a:t>Interactive dashboards and business recommendations support data-driven decision-making and demonstrate practical business intelligence capabilities.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5141438"/>
      </p:ext>
    </p:extLst>
  </p:cSld>
  <p:clrMapOvr>
    <a:masterClrMapping/>
  </p:clrMapOvr>
</p:sld>
</file>

<file path=ppt/theme/theme1.xml><?xml version="1.0" encoding="utf-8"?>
<a:theme xmlns:a="http://schemas.openxmlformats.org/drawingml/2006/main" name="Sales training presentation">
  <a:themeElements>
    <a:clrScheme name="Sales Training_final2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Sales Training_final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692150" marR="0" indent="-347663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Pct val="70000"/>
          <a:buFont typeface="Wingdings" pitchFamily="2" charset="2"/>
          <a:buChar char="l"/>
          <a:tabLst/>
          <a:defRPr kumimoji="0" 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692150" marR="0" indent="-347663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Pct val="70000"/>
          <a:buFont typeface="Wingdings" pitchFamily="2" charset="2"/>
          <a:buChar char="l"/>
          <a:tabLst/>
          <a:defRPr kumimoji="0" 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ales Training_final2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les Training_final2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ales training presentation.potx" id="{3181A242-BAE2-485E-97E8-919259126601}" vid="{819B686A-E690-42F4-91DA-6D012EEA3935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Sales training slides</Template>
  <TotalTime>117</TotalTime>
  <Words>762</Words>
  <Application>Microsoft Office PowerPoint</Application>
  <PresentationFormat>On-screen Show (4:3)</PresentationFormat>
  <Paragraphs>114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Wingdings</vt:lpstr>
      <vt:lpstr>Sales training presentation</vt:lpstr>
      <vt:lpstr>RETAIL SALES ANALYTICS   Retail Sales Analytics Dashboard using SQL, Python, and Power BI</vt:lpstr>
      <vt:lpstr>OUTLINE</vt:lpstr>
      <vt:lpstr>Problem Statement </vt:lpstr>
      <vt:lpstr>Project Objectives </vt:lpstr>
      <vt:lpstr>Tools and Technologies </vt:lpstr>
      <vt:lpstr>SQL Analysis </vt:lpstr>
      <vt:lpstr>Python Analysis </vt:lpstr>
      <vt:lpstr>Executive Overview Dashboard</vt:lpstr>
      <vt:lpstr>Product Performance Dashboard</vt:lpstr>
      <vt:lpstr>Customer Insights Dashboard</vt:lpstr>
      <vt:lpstr>Profitability Analysis Dashboard</vt:lpstr>
      <vt:lpstr>Business Insights &amp; Recommendations</vt:lpstr>
      <vt:lpstr>Key Findings</vt:lpstr>
      <vt:lpstr>Business Recommendations</vt:lpstr>
      <vt:lpstr>Conclusion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Manikanta_ yelisetti_23157398</dc:creator>
  <cp:lastModifiedBy>Manikanta_ yelisetti_23157398</cp:lastModifiedBy>
  <cp:revision>3</cp:revision>
  <dcterms:created xsi:type="dcterms:W3CDTF">2026-06-25T14:03:16Z</dcterms:created>
  <dcterms:modified xsi:type="dcterms:W3CDTF">2026-06-25T16:00:42Z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